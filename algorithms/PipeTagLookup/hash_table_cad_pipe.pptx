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비교 횟수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A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9A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7A4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선형 탐색
(alist)</c:v>
                  </c:pt>
                  <c:pt idx="1">
                    <c:v>Zone만 hash
(편중)</c:v>
                  </c:pt>
                  <c:pt idx="2">
                    <c:v>복합키 hash
(균등 분산)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8780</c:v>
                </c:pt>
                <c:pt idx="1">
                  <c:v>3000</c:v>
                </c:pt>
                <c:pt idx="2">
                  <c:v>138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A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26337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2926080" cy="2926080"/>
          </a:xfrm>
          <a:prstGeom prst="ellipse">
            <a:avLst/>
          </a:prstGeom>
          <a:solidFill>
            <a:srgbClr val="26337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× CAD AUTOMATION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해시 테이블로 배관 태그 조회 최적화하기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반도체 팹 배관 P&amp;ID 도면에서 AutoLISP 매크로 조회 성능을 개선한 사례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" y="49560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Collision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507492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3364992" y="49560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Distribution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507492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742432" y="49560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AutoLISP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507492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8119872" y="49560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Lookup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조은정  ·  UE5 Client &amp; Server 개발 포트폴리오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문제 상황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배관이 많아질수록 매크로가 느려진다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반도체 팹 배관 도면 한 장에는 수천~수만 개의 배관 세그먼트가 있고, 각 배관은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태그(예: P-101-A-2FL = Zone 101 · 배관 A · 2층)로 식별됩니다.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6309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배관 태그 클릭 → 엔티티 조회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단위 일괄 처리 (색상/레이어 변경, 간섭 체크, BOM 집계)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조회가 매크로 실행 중 수백~수천 번 반복됨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343400"/>
            <a:ext cx="630936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체감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“도면이 커질수록 태그 검색/일괄 처리 매크로가 눈에 띄게 느려진다.”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 방식이 도면 규모에 선형으로 비례하기 때문 (O(N))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0" y="1417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도면 배관 수 대비 조회 시간 (선형 탐색)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589520" y="4754880"/>
            <a:ext cx="960120" cy="64008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546811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06840" y="3931920"/>
            <a:ext cx="960120" cy="14630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0" y="546811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424160" y="2743200"/>
            <a:ext cx="960120" cy="265176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287000" y="546811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5394960"/>
            <a:ext cx="4297680" cy="0"/>
          </a:xfrm>
          <a:prstGeom prst="line">
            <a:avLst/>
          </a:prstGeom>
          <a:noFill/>
          <a:ln w="12700">
            <a:solidFill>
              <a:srgbClr val="D8DC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58521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배관 수가 늘수록 조회 비용이 그대로 늘어남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개념 복습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해시 테이블은 이렇게 동작한다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Key를 정답 위치로 바로 바꾸는 게 아니라, 후보 버킷으로 좁힌 뒤 equality로 확인한다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5C9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51460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P-101-A-2FL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22860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70632" y="22860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9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251460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계산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62072" y="30632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hash(key)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36592" y="22860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92624" y="22860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9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02352" y="251460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후보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84064" y="30632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buckets[h % N]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58584" y="22860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14616" y="22860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9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24344" y="251460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 비교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06056" y="30632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일치 확인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80576" y="22860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436608" y="22860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5C9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46336" y="251460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반환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28048" y="30632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엔티티 반환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4270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" y="4754880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일관성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" y="5102352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key는 항상 같은 hash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10128" y="406908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3511296" y="4270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3511296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11296" y="4754880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정확성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11296" y="5102352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key는 반드시 같은 hash를 가짐 (equality 계약)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71616" y="406908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35" name="Shape 33"/>
          <p:cNvSpPr/>
          <p:nvPr/>
        </p:nvSpPr>
        <p:spPr>
          <a:xfrm>
            <a:off x="6272784" y="4270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272784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72784" y="4754880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72784" y="5102352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데이터가 특정 bucket에 몰리지 않음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833104" y="406908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</p:sp>
      <p:sp>
        <p:nvSpPr>
          <p:cNvPr id="40" name="Shape 38"/>
          <p:cNvSpPr/>
          <p:nvPr/>
        </p:nvSpPr>
        <p:spPr>
          <a:xfrm>
            <a:off x="9034272" y="4270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9034272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034272" y="4754880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034272" y="5102352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계산 자체가 지나치게 무겁지 않음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함정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ID만으로 hash를 만들면?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태그의 identity는 (Zone, PipeId, Floor) 세 개인데, hash는 Zone만 본다면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버킷 분포 (Zone ID만 사용) — 앞쪽 버킷에 배관이 몰림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658368" cy="2377440"/>
          </a:xfrm>
          <a:prstGeom prst="roundRect">
            <a:avLst>
              <a:gd name="adj" fmla="val 4167"/>
            </a:avLst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1335024" y="2910840"/>
            <a:ext cx="658368" cy="1981200"/>
          </a:xfrm>
          <a:prstGeom prst="roundRect">
            <a:avLst>
              <a:gd name="adj" fmla="val 4167"/>
            </a:avLst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2121408" y="3307080"/>
            <a:ext cx="658368" cy="1584960"/>
          </a:xfrm>
          <a:prstGeom prst="roundRect">
            <a:avLst>
              <a:gd name="adj" fmla="val 4167"/>
            </a:avLst>
          </a:prstGeom>
          <a:solidFill>
            <a:srgbClr val="C0392B"/>
          </a:solidFill>
          <a:ln/>
        </p:spPr>
      </p:sp>
      <p:sp>
        <p:nvSpPr>
          <p:cNvPr id="9" name="Shape 7"/>
          <p:cNvSpPr/>
          <p:nvPr/>
        </p:nvSpPr>
        <p:spPr>
          <a:xfrm>
            <a:off x="2907792" y="3703320"/>
            <a:ext cx="658368" cy="1188720"/>
          </a:xfrm>
          <a:prstGeom prst="roundRect">
            <a:avLst>
              <a:gd name="adj" fmla="val 4167"/>
            </a:avLst>
          </a:prstGeom>
          <a:solidFill>
            <a:srgbClr val="C0392B"/>
          </a:solidFill>
          <a:ln/>
        </p:spPr>
      </p:sp>
      <p:sp>
        <p:nvSpPr>
          <p:cNvPr id="10" name="Shape 8"/>
          <p:cNvSpPr/>
          <p:nvPr/>
        </p:nvSpPr>
        <p:spPr>
          <a:xfrm>
            <a:off x="3694176" y="4733544"/>
            <a:ext cx="658368" cy="158496"/>
          </a:xfrm>
          <a:prstGeom prst="roundRect">
            <a:avLst>
              <a:gd name="adj" fmla="val 17308"/>
            </a:avLst>
          </a:prstGeom>
          <a:solidFill>
            <a:srgbClr val="E3C8C6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4733544"/>
            <a:ext cx="658368" cy="158496"/>
          </a:xfrm>
          <a:prstGeom prst="roundRect">
            <a:avLst>
              <a:gd name="adj" fmla="val 17308"/>
            </a:avLst>
          </a:prstGeom>
          <a:solidFill>
            <a:srgbClr val="E3C8C6"/>
          </a:solidFill>
          <a:ln/>
        </p:spPr>
      </p:sp>
      <p:sp>
        <p:nvSpPr>
          <p:cNvPr id="12" name="Shape 10"/>
          <p:cNvSpPr/>
          <p:nvPr/>
        </p:nvSpPr>
        <p:spPr>
          <a:xfrm>
            <a:off x="5266944" y="4733544"/>
            <a:ext cx="658368" cy="158496"/>
          </a:xfrm>
          <a:prstGeom prst="roundRect">
            <a:avLst>
              <a:gd name="adj" fmla="val 17308"/>
            </a:avLst>
          </a:prstGeom>
          <a:solidFill>
            <a:srgbClr val="E3C8C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53328" y="4733544"/>
            <a:ext cx="658368" cy="158496"/>
          </a:xfrm>
          <a:prstGeom prst="roundRect">
            <a:avLst>
              <a:gd name="adj" fmla="val 17308"/>
            </a:avLst>
          </a:prstGeom>
          <a:solidFill>
            <a:srgbClr val="E3C8C6"/>
          </a:solidFill>
          <a:ln/>
        </p:spPr>
      </p:sp>
      <p:sp>
        <p:nvSpPr>
          <p:cNvPr id="14" name="Shape 12"/>
          <p:cNvSpPr/>
          <p:nvPr/>
        </p:nvSpPr>
        <p:spPr>
          <a:xfrm>
            <a:off x="6839712" y="4812792"/>
            <a:ext cx="658368" cy="79248"/>
          </a:xfrm>
          <a:prstGeom prst="roundRect">
            <a:avLst>
              <a:gd name="adj" fmla="val 34615"/>
            </a:avLst>
          </a:prstGeom>
          <a:solidFill>
            <a:srgbClr val="E3C8C6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6096" y="4812792"/>
            <a:ext cx="658368" cy="79248"/>
          </a:xfrm>
          <a:prstGeom prst="roundRect">
            <a:avLst>
              <a:gd name="adj" fmla="val 34615"/>
            </a:avLst>
          </a:prstGeom>
          <a:solidFill>
            <a:srgbClr val="E3C8C6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4812792"/>
            <a:ext cx="658368" cy="79248"/>
          </a:xfrm>
          <a:prstGeom prst="roundRect">
            <a:avLst>
              <a:gd name="adj" fmla="val 34615"/>
            </a:avLst>
          </a:prstGeom>
          <a:solidFill>
            <a:srgbClr val="E3C8C6"/>
          </a:solidFill>
          <a:ln/>
        </p:spPr>
      </p:sp>
      <p:sp>
        <p:nvSpPr>
          <p:cNvPr id="17" name="Shape 15"/>
          <p:cNvSpPr/>
          <p:nvPr/>
        </p:nvSpPr>
        <p:spPr>
          <a:xfrm>
            <a:off x="9198864" y="4812792"/>
            <a:ext cx="658368" cy="79248"/>
          </a:xfrm>
          <a:prstGeom prst="roundRect">
            <a:avLst>
              <a:gd name="adj" fmla="val 34615"/>
            </a:avLst>
          </a:prstGeom>
          <a:solidFill>
            <a:srgbClr val="E3C8C6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892040"/>
            <a:ext cx="9308592" cy="0"/>
          </a:xfrm>
          <a:prstGeom prst="line">
            <a:avLst/>
          </a:prstGeom>
          <a:noFill/>
          <a:ln w="12700">
            <a:solidFill>
              <a:srgbClr val="D8DC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9651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101   102   103   104   105~110 …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4개 버킷 안에서만 다시 선형 탐색 발생 → 해시테이블이지만 사실상 O(N)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38160" y="196596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241531"/>
          </a:solidFill>
          <a:ln/>
        </p:spPr>
      </p:sp>
      <p:sp>
        <p:nvSpPr>
          <p:cNvPr id="22" name="Text 20"/>
          <p:cNvSpPr/>
          <p:nvPr/>
        </p:nvSpPr>
        <p:spPr>
          <a:xfrm>
            <a:off x="8339328" y="2130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3A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bad_linear_search.lsp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39328" y="2468880"/>
            <a:ext cx="3163824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(defun bad-hash-zone-only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(zone-id num-buckets)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(rem (atoi zone-id)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num-buckets)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;; identity = Zone+PipeId+Floor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;; 인데 hash는 Zone만 사용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;; -&gt; 같은 Zone 배관이 몰리면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;;    버킷 하나에 수천 개 쌓임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해결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복합키(Zone+PipeId+Floor)로 hash를 계산한다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 문자열 전체를 다항 해시(polynomial hash)에 넣어 버킷에 고르게 분산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버킷 분포 (복합키 사용) — 균등하게 분산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042920"/>
            <a:ext cx="658368" cy="1849120"/>
          </a:xfrm>
          <a:prstGeom prst="roundRect">
            <a:avLst>
              <a:gd name="adj" fmla="val 4167"/>
            </a:avLst>
          </a:prstGeom>
          <a:solidFill>
            <a:srgbClr val="1E7A46"/>
          </a:solidFill>
          <a:ln/>
        </p:spPr>
      </p:sp>
      <p:sp>
        <p:nvSpPr>
          <p:cNvPr id="7" name="Shape 5"/>
          <p:cNvSpPr/>
          <p:nvPr/>
        </p:nvSpPr>
        <p:spPr>
          <a:xfrm>
            <a:off x="1335024" y="2778760"/>
            <a:ext cx="658368" cy="2113280"/>
          </a:xfrm>
          <a:prstGeom prst="roundRect">
            <a:avLst>
              <a:gd name="adj" fmla="val 4167"/>
            </a:avLst>
          </a:prstGeom>
          <a:solidFill>
            <a:srgbClr val="1E7A46"/>
          </a:solidFill>
          <a:ln/>
        </p:spPr>
      </p:sp>
      <p:sp>
        <p:nvSpPr>
          <p:cNvPr id="8" name="Shape 6"/>
          <p:cNvSpPr/>
          <p:nvPr/>
        </p:nvSpPr>
        <p:spPr>
          <a:xfrm>
            <a:off x="2121408" y="3307080"/>
            <a:ext cx="658368" cy="1584960"/>
          </a:xfrm>
          <a:prstGeom prst="roundRect">
            <a:avLst>
              <a:gd name="adj" fmla="val 4167"/>
            </a:avLst>
          </a:prstGeom>
          <a:solidFill>
            <a:srgbClr val="1E7A46"/>
          </a:solidFill>
          <a:ln/>
        </p:spPr>
      </p:sp>
      <p:sp>
        <p:nvSpPr>
          <p:cNvPr id="9" name="Shape 7"/>
          <p:cNvSpPr/>
          <p:nvPr/>
        </p:nvSpPr>
        <p:spPr>
          <a:xfrm>
            <a:off x="2907792" y="2514600"/>
            <a:ext cx="658368" cy="2377440"/>
          </a:xfrm>
          <a:prstGeom prst="roundRect">
            <a:avLst>
              <a:gd name="adj" fmla="val 4167"/>
            </a:avLst>
          </a:prstGeom>
          <a:solidFill>
            <a:srgbClr val="1E7A46"/>
          </a:solidFill>
          <a:ln/>
        </p:spPr>
      </p:sp>
      <p:sp>
        <p:nvSpPr>
          <p:cNvPr id="10" name="Shape 8"/>
          <p:cNvSpPr/>
          <p:nvPr/>
        </p:nvSpPr>
        <p:spPr>
          <a:xfrm>
            <a:off x="3694176" y="3042920"/>
            <a:ext cx="658368" cy="1849120"/>
          </a:xfrm>
          <a:prstGeom prst="roundRect">
            <a:avLst>
              <a:gd name="adj" fmla="val 4167"/>
            </a:avLst>
          </a:prstGeom>
          <a:solidFill>
            <a:srgbClr val="1E7A46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2778760"/>
            <a:ext cx="658368" cy="2113280"/>
          </a:xfrm>
          <a:prstGeom prst="roundRect">
            <a:avLst>
              <a:gd name="adj" fmla="val 4167"/>
            </a:avLst>
          </a:prstGeom>
          <a:solidFill>
            <a:srgbClr val="1E7A46"/>
          </a:solidFill>
          <a:ln/>
        </p:spPr>
      </p:sp>
      <p:sp>
        <p:nvSpPr>
          <p:cNvPr id="12" name="Shape 10"/>
          <p:cNvSpPr/>
          <p:nvPr/>
        </p:nvSpPr>
        <p:spPr>
          <a:xfrm>
            <a:off x="5266944" y="3307080"/>
            <a:ext cx="658368" cy="1584960"/>
          </a:xfrm>
          <a:prstGeom prst="roundRect">
            <a:avLst>
              <a:gd name="adj" fmla="val 4167"/>
            </a:avLst>
          </a:prstGeom>
          <a:solidFill>
            <a:srgbClr val="1E7A4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53328" y="2514600"/>
            <a:ext cx="658368" cy="2377440"/>
          </a:xfrm>
          <a:prstGeom prst="roundRect">
            <a:avLst>
              <a:gd name="adj" fmla="val 4167"/>
            </a:avLst>
          </a:prstGeom>
          <a:solidFill>
            <a:srgbClr val="1E7A46"/>
          </a:solidFill>
          <a:ln/>
        </p:spPr>
      </p:sp>
      <p:sp>
        <p:nvSpPr>
          <p:cNvPr id="14" name="Shape 12"/>
          <p:cNvSpPr/>
          <p:nvPr/>
        </p:nvSpPr>
        <p:spPr>
          <a:xfrm>
            <a:off x="6839712" y="3042920"/>
            <a:ext cx="658368" cy="1849120"/>
          </a:xfrm>
          <a:prstGeom prst="roundRect">
            <a:avLst>
              <a:gd name="adj" fmla="val 4167"/>
            </a:avLst>
          </a:prstGeom>
          <a:solidFill>
            <a:srgbClr val="1E7A46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6096" y="2778760"/>
            <a:ext cx="658368" cy="2113280"/>
          </a:xfrm>
          <a:prstGeom prst="roundRect">
            <a:avLst>
              <a:gd name="adj" fmla="val 4167"/>
            </a:avLst>
          </a:prstGeom>
          <a:solidFill>
            <a:srgbClr val="1E7A46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3307080"/>
            <a:ext cx="658368" cy="1584960"/>
          </a:xfrm>
          <a:prstGeom prst="roundRect">
            <a:avLst>
              <a:gd name="adj" fmla="val 4167"/>
            </a:avLst>
          </a:prstGeom>
          <a:solidFill>
            <a:srgbClr val="1E7A46"/>
          </a:solidFill>
          <a:ln/>
        </p:spPr>
      </p:sp>
      <p:sp>
        <p:nvSpPr>
          <p:cNvPr id="17" name="Shape 15"/>
          <p:cNvSpPr/>
          <p:nvPr/>
        </p:nvSpPr>
        <p:spPr>
          <a:xfrm>
            <a:off x="9198864" y="2514600"/>
            <a:ext cx="658368" cy="2377440"/>
          </a:xfrm>
          <a:prstGeom prst="roundRect">
            <a:avLst>
              <a:gd name="adj" fmla="val 4167"/>
            </a:avLst>
          </a:prstGeom>
          <a:solidFill>
            <a:srgbClr val="1E7A46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892040"/>
            <a:ext cx="9308592" cy="0"/>
          </a:xfrm>
          <a:prstGeom prst="line">
            <a:avLst/>
          </a:prstGeom>
          <a:noFill/>
          <a:ln w="12700">
            <a:solidFill>
              <a:srgbClr val="D8DC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9651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0             1             2             3   …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버킷을 열어도 원소 수가 비슷 → 평균 O(1) 유지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38160" y="196596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12261C"/>
          </a:solidFill>
          <a:ln/>
        </p:spPr>
      </p:sp>
      <p:sp>
        <p:nvSpPr>
          <p:cNvPr id="22" name="Text 20"/>
          <p:cNvSpPr/>
          <p:nvPr/>
        </p:nvSpPr>
        <p:spPr>
          <a:xfrm>
            <a:off x="8339328" y="2130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good_hash_lookup.lsp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39328" y="2468880"/>
            <a:ext cx="3163824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1F2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(defun char-hash (str / h i n c)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1F2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(setq h 0 n (strlen str) i 1)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1F2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(repeat n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1F2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(setq c (ascii (substr str i 1)))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1F2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(setq h (rem (+ (* h 31) c)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1F2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2147483647))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1F2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(setq i (1+ i)))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1F2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h)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1F2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;; 태그 전체 문자열을 사용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1F2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;; -&gt; Zone, PipeId, Floor 모두 반영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벤치마크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PIPE-BENCH 실행 결과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배관 8,780개 (Zone 101~104에 배관이 몰린 실제 팹 도면 패턴) · 태그 1개 조회 기준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60350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995160" y="20116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8,780 회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995160" y="2514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탐색 — 배관 하나 찾는 데 전체 순회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95160" y="32461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 회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995160" y="3749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Zone만 hash — 몰린 버킷 안에서 다시 선형 탐색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995160" y="44805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 회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995160" y="4983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복합키 hash — 평균 O(1), 버킷 하나만 조회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995160" y="576072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F4F6FC"/>
          </a:solidFill>
          <a:ln/>
        </p:spPr>
      </p:sp>
      <p:sp>
        <p:nvSpPr>
          <p:cNvPr id="13" name="Text 10"/>
          <p:cNvSpPr/>
          <p:nvPr/>
        </p:nvSpPr>
        <p:spPr>
          <a:xfrm>
            <a:off x="7223760" y="58978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63배 감소 (선형 대비), 약 22배 감소 (Zone만 hash 대비)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요약 비교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나쁜 예 vs 좋은 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94760" y="16002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09560" y="1600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E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64240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0312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배관 1개 태그 조회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94760" y="210312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배관 수에 비례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09560" y="210312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O(1) — 버킷 하나만 확인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15468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단위 일괄 처리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(2만 개 가정)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94760" y="31546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리스트 2만 개 순회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09560" y="315468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버킷 순회, 태그 단위는 여전히 O(1)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20624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도면 규모가 2배로 커질 때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94760" y="420624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시간도 거의 2배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09560" y="42062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버킷 수만 늘리면 시간 거의 그대로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525780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A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흔한 함정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794760" y="525780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ID만 hash → 편중 시 도로 O(N)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09560" y="525780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Zone+PipeId+Floor 복합키 → 균등 분산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206240" cy="4206240"/>
          </a:xfrm>
          <a:prstGeom prst="ellipse">
            <a:avLst/>
          </a:prstGeom>
          <a:solidFill>
            <a:srgbClr val="26337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30초 요약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면접 답변 스크립트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15600" cy="1965960"/>
          </a:xfrm>
          <a:prstGeom prst="roundRect">
            <a:avLst>
              <a:gd name="adj" fmla="val 4651"/>
            </a:avLst>
          </a:prstGeom>
          <a:solidFill>
            <a:srgbClr val="26337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19456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“해시 테이블은 hash로 후보를 좁힌 뒤 equality로 실제 key를 확인합니다. 충돌은 정상이고, 실제 데이터가 특정 bucket에 몰리는지가 중요합니다. 반도체 배관 CAD 매크로에서도 Zone ID만으로 hash를 만들면 특정 Zone에 배관이 몰려 편중이 생기길래, Zone+PipeId+Floor 복합키로 바꿔 버킷을 균등하게 분산시켰습니다. 그 결과 8,780개 배관에서 태그 조회 비교 횟수가 8,780회 → 138회로 줄었습니다.”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 계약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3364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Matches(A,B)=true인 key는 반드시 같은 hash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43984" y="4434840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분포가 핵심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43984" y="4846320"/>
            <a:ext cx="3364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O(1)은 계산·충돌·메모리 비용이 사라진다는 뜻이 아님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65008" y="4434840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실측으로 검증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65008" y="4846320"/>
            <a:ext cx="3364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Insights, 자체 벤치마크로 목표 플랫폼에서 확인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cad-algorithms/PipeTagLookup  ·  StudyBot / Algorithm 브랜치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2026-08-28T09:59:47Z</dcterms:created>
  <dcterms:modified xsi:type="dcterms:W3CDTF">2026-08-28T09:59:47Z</dcterms:modified>
</cp:coreProperties>
</file>